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33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2233F"/>
                </a:solidFill>
                <a:latin typeface="Arial"/>
              </a:rPr>
              <a:t>Chunks Generated per Document Format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chunks produced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PDF</c:v>
                  </c:pt>
                  <c:pt idx="1">
                    <c:v>DOCX</c:v>
                  </c:pt>
                  <c:pt idx="2">
                    <c:v>PPTX</c:v>
                  </c:pt>
                  <c:pt idx="3">
                    <c:v>XLSX</c:v>
                  </c:pt>
                  <c:pt idx="4">
                    <c:v>CSV</c:v>
                  </c:pt>
                  <c:pt idx="5">
                    <c:v>TXT/MD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27</c:v>
                </c:pt>
                <c:pt idx="2">
                  <c:v>19</c:v>
                </c:pt>
                <c:pt idx="3">
                  <c:v>15</c:v>
                </c:pt>
                <c:pt idx="4">
                  <c:v>12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1.png"/><Relationship Id="rId6" Type="http://schemas.openxmlformats.org/officeDocument/2006/relationships/image" Target="../media/image-3-2.png"/><Relationship Id="rId7" Type="http://schemas.openxmlformats.org/officeDocument/2006/relationships/image" Target="../media/image-3-3.png"/><Relationship Id="rId8" Type="http://schemas.openxmlformats.org/officeDocument/2006/relationships/image" Target="../media/image-3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1jK9EGT7YohrJUs87O3DuohPD6u424fJ?usp=sharing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480560"/>
            <a:ext cx="2560320" cy="2560320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EGYPT PIONEERS INITIATIVE  ·  GENERATIVE AI TRACK — ROUND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Alies AI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 RAG Assistant — Multi-Modal, Voice-Enabled Retrieval-Augmented Generation Chatbot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03250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Documentation  ·  July 2026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4709160"/>
            <a:ext cx="10698480" cy="18288"/>
          </a:xfrm>
          <a:prstGeom prst="rect">
            <a:avLst/>
          </a:prstGeom>
          <a:solidFill>
            <a:srgbClr val="2A3F63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52303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Ibrahim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337560" y="52303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Hesham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943600" y="52303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 Essam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549640" y="52303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Hassan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3152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6080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Hisham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478024"/>
            <a:ext cx="5440680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87752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258775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 &amp; Description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5440680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83864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3483864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270248"/>
            <a:ext cx="5440680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9976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80160" y="4379976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Diagram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5440680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76088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527608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48640" y="6062472"/>
            <a:ext cx="5440680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69164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040880" y="169164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(LLMs, Memory, RAG, Vision, Voice, Search)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309360" y="2478024"/>
            <a:ext cx="5440680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587752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40880" y="258775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 (QLoRA Fine-Tuning)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309360" y="3374136"/>
            <a:ext cx="5440680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483864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040880" y="3483864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309360" y="4270248"/>
            <a:ext cx="5440680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379976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040880" y="4379976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309360" y="5166360"/>
            <a:ext cx="5440680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5276088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040880" y="527608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Research Directions &amp; Live Demo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6309360" y="6062472"/>
            <a:ext cx="5440680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is a locally-hosted, multi-modal Retrieval-Augmented Generation (RAG) assistant built as a graduation project for the DEPI Generative AI Track. It gives a single conversational workspace that can read your own documents, search and scrape the live web, understand images, and talk back — all while running primarily on local Ollama models for privacy, with optional OpenAI augmentation.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0" cy="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914400" cy="914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423160"/>
            <a:ext cx="0" cy="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316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291840"/>
            <a:ext cx="0" cy="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2" descr="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0"/>
            <a:ext cx="914400" cy="9144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48640" y="4160520"/>
            <a:ext cx="0" cy="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3" descr="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60520"/>
            <a:ext cx="914400" cy="9144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360920" y="1554480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F5F8FA"/>
          </a:solidFill>
          <a:ln/>
        </p:spPr>
      </p:sp>
      <p:sp>
        <p:nvSpPr>
          <p:cNvPr id="15" name="Shape 9"/>
          <p:cNvSpPr/>
          <p:nvPr/>
        </p:nvSpPr>
        <p:spPr>
          <a:xfrm>
            <a:off x="7525512" y="1719072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4" descr="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7932" y="1791492"/>
            <a:ext cx="458663" cy="4586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75320" y="1645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8275320" y="195681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retrieval + cross-encoder reranking cuts hallucination and cites exact pages/slides.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7360920" y="2633472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F5F8FA"/>
          </a:solidFill>
          <a:ln/>
        </p:spPr>
      </p:sp>
      <p:sp>
        <p:nvSpPr>
          <p:cNvPr id="20" name="Shape 13"/>
          <p:cNvSpPr/>
          <p:nvPr/>
        </p:nvSpPr>
        <p:spPr>
          <a:xfrm>
            <a:off x="7525512" y="279806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5" descr="icons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7932" y="2870484"/>
            <a:ext cx="458663" cy="4586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275320" y="272491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Pipeline Modes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8275320" y="303580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Chat, Document RAG, Web Search, Web Scraping, Image/OCR.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7360920" y="3712464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F5F8FA"/>
          </a:solidFill>
          <a:ln/>
        </p:spPr>
      </p:sp>
      <p:sp>
        <p:nvSpPr>
          <p:cNvPr id="25" name="Shape 17"/>
          <p:cNvSpPr/>
          <p:nvPr/>
        </p:nvSpPr>
        <p:spPr>
          <a:xfrm>
            <a:off x="7525512" y="3877056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6" descr="icons/za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7932" y="3949476"/>
            <a:ext cx="458663" cy="45866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275320" y="380390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8275320" y="41148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Auto-classifies code vs. chat vs. vision and picks the right backend per question.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7360920" y="4791456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F5F8FA"/>
          </a:solidFill>
          <a:ln/>
        </p:spPr>
      </p:sp>
      <p:sp>
        <p:nvSpPr>
          <p:cNvPr id="30" name="Shape 21"/>
          <p:cNvSpPr/>
          <p:nvPr/>
        </p:nvSpPr>
        <p:spPr>
          <a:xfrm>
            <a:off x="7525512" y="495604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7" descr="icons/shi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7932" y="5028468"/>
            <a:ext cx="458663" cy="45866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275320" y="488289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350" dirty="0"/>
          </a:p>
        </p:txBody>
      </p:sp>
      <p:sp>
        <p:nvSpPr>
          <p:cNvPr id="33" name="Text 23"/>
          <p:cNvSpPr/>
          <p:nvPr/>
        </p:nvSpPr>
        <p:spPr>
          <a:xfrm>
            <a:off x="8275320" y="519379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 (Qwen2.5 family) by default; cloud LLMs only opt-in.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548640" y="3520440"/>
            <a:ext cx="6583680" cy="2606040"/>
          </a:xfrm>
          <a:prstGeom prst="roundRect">
            <a:avLst>
              <a:gd name="adj" fmla="val 3509"/>
            </a:avLst>
          </a:prstGeom>
          <a:solidFill>
            <a:srgbClr val="12233F"/>
          </a:solidFill>
          <a:ln/>
        </p:spPr>
      </p:sp>
      <p:sp>
        <p:nvSpPr>
          <p:cNvPr id="35" name="Text 25"/>
          <p:cNvSpPr/>
          <p:nvPr/>
        </p:nvSpPr>
        <p:spPr>
          <a:xfrm>
            <a:off x="868680" y="3703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at a Glance</a:t>
            </a:r>
            <a:endParaRPr lang="en-US" sz="1400" dirty="0"/>
          </a:p>
        </p:txBody>
      </p:sp>
      <p:sp>
        <p:nvSpPr>
          <p:cNvPr id="36" name="Text 26"/>
          <p:cNvSpPr/>
          <p:nvPr/>
        </p:nvSpPr>
        <p:spPr>
          <a:xfrm>
            <a:off x="868680" y="411480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Streamlit UI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 (Qwen2.5 chat / coder / vision, Whisper)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 (optional GPT-4o-mini tiers)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 ·  sentence-transformers embeddings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document loaders &amp; text splitting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(STT)  ·  Edge-TTS (TTS)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/ QLoRA fine-tuning pipeline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Source &amp; Description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has no single static training dataset — its “data” is the live, heterogeneous corpus each user brings, plus a small curated set used to build and validate the pipeline itself.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317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271" y="2399751"/>
            <a:ext cx="430865" cy="4308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017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Document Corpus (RAG)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6576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at runtime: PDF, DOCX, PPTX, XLSX, CSV, TXT, MD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Page-aware for PDF, per-slide for PPTX, per-sheet for XLSX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to 1,000 chars / 200-char overlap (LangChain splitter)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per-session in ChromaDB with source + page metadata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2103120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3317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031" y="2399751"/>
            <a:ext cx="430865" cy="4308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017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Live Web Data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0" y="36576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top-5 search results per query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 results fully scraped with BeautifulSoup4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3 kept as snippets, all labeled “(web search)”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Single-URL scraping mode for one target page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2103120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23317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791" y="2399751"/>
            <a:ext cx="430865" cy="4308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017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Evaluation &amp; Fine-Tuning Sets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66760" y="36576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eval_dataset.json: question → expected_sources pairs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deterministic Precision@k scoring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finetune/source_docs → synthetic instruction pairs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pairs auto-generated by an Ollama model for QLoRA training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test corpus used while validating ingestion &amp; chunking across all supported formats.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196596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12233F"/>
          </a:solidFill>
          <a:ln/>
        </p:spPr>
      </p:sp>
      <p:sp>
        <p:nvSpPr>
          <p:cNvPr id="8" name="Text 5"/>
          <p:cNvSpPr/>
          <p:nvPr/>
        </p:nvSpPr>
        <p:spPr>
          <a:xfrm>
            <a:off x="7360920" y="2194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60920" y="265176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Text-dense formats (PDF, DOCX) dominate chunk volume — chunking cost is not uniform across formats.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need the most page-level bookkeeping, justifying per-page metadata rather than whole-file tagging.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Slide/sheet-aware chunking (PPTX, XLSX) keeps citations precise despite fewer chunks per file.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1,000/200 chunk size &amp; overlap was tuned to balance retrieval recall against context-window cost.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Project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1755648" cy="2331720"/>
          </a:xfrm>
          <a:prstGeom prst="roundRect">
            <a:avLst>
              <a:gd name="adj" fmla="val 4688"/>
            </a:avLst>
          </a:prstGeom>
          <a:solidFill>
            <a:srgbClr val="12233F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2423160"/>
            <a:ext cx="603504" cy="603504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7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132" y="2495580"/>
            <a:ext cx="458663" cy="4586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5468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Voice · Image · URL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286000" y="3159252"/>
            <a:ext cx="3063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920240" y="2249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27732" y="2194560"/>
            <a:ext cx="1755648" cy="2331720"/>
          </a:xfrm>
          <a:prstGeom prst="roundRect">
            <a:avLst>
              <a:gd name="adj" fmla="val 4688"/>
            </a:avLst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3003804" y="2423160"/>
            <a:ext cx="603504" cy="603504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14" name="Image 1" descr="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224" y="2495580"/>
            <a:ext cx="458663" cy="4586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19172" y="315468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Mode Router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519172" y="36576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Web / Scrape / OCR / Chat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165092" y="3159252"/>
            <a:ext cx="3063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799332" y="2249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306824" y="2194560"/>
            <a:ext cx="1755648" cy="2331720"/>
          </a:xfrm>
          <a:prstGeom prst="roundRect">
            <a:avLst>
              <a:gd name="adj" fmla="val 4688"/>
            </a:avLst>
          </a:prstGeom>
          <a:solidFill>
            <a:srgbClr val="12233F"/>
          </a:solidFill>
          <a:ln/>
        </p:spPr>
      </p:sp>
      <p:sp>
        <p:nvSpPr>
          <p:cNvPr id="20" name="Shape 16"/>
          <p:cNvSpPr/>
          <p:nvPr/>
        </p:nvSpPr>
        <p:spPr>
          <a:xfrm>
            <a:off x="4882896" y="2423160"/>
            <a:ext cx="603504" cy="603504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21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316" y="2495580"/>
            <a:ext cx="458663" cy="45866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98264" y="315468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Retrieval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398264" y="36576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+ Long-term (SQLite)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044184" y="3159252"/>
            <a:ext cx="3063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678424" y="2249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185916" y="2194560"/>
            <a:ext cx="1755648" cy="2331720"/>
          </a:xfrm>
          <a:prstGeom prst="roundRect">
            <a:avLst>
              <a:gd name="adj" fmla="val 4688"/>
            </a:avLst>
          </a:prstGeom>
          <a:solidFill>
            <a:srgbClr val="1C7293"/>
          </a:solidFill>
          <a:ln/>
        </p:spPr>
      </p:sp>
      <p:sp>
        <p:nvSpPr>
          <p:cNvPr id="27" name="Shape 22"/>
          <p:cNvSpPr/>
          <p:nvPr/>
        </p:nvSpPr>
        <p:spPr>
          <a:xfrm>
            <a:off x="6761988" y="2423160"/>
            <a:ext cx="603504" cy="603504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28" name="Image 3" descr="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408" y="2495580"/>
            <a:ext cx="458663" cy="45866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77356" y="315468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+ Rerank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277356" y="36576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 search → cross-encoder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7923276" y="3159252"/>
            <a:ext cx="3063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7557516" y="2249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065008" y="2194560"/>
            <a:ext cx="1755648" cy="2331720"/>
          </a:xfrm>
          <a:prstGeom prst="roundRect">
            <a:avLst>
              <a:gd name="adj" fmla="val 4688"/>
            </a:avLst>
          </a:prstGeom>
          <a:solidFill>
            <a:srgbClr val="12233F"/>
          </a:solidFill>
          <a:ln/>
        </p:spPr>
      </p:sp>
      <p:sp>
        <p:nvSpPr>
          <p:cNvPr id="34" name="Shape 28"/>
          <p:cNvSpPr/>
          <p:nvPr/>
        </p:nvSpPr>
        <p:spPr>
          <a:xfrm>
            <a:off x="8641080" y="2423160"/>
            <a:ext cx="603504" cy="603504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35" name="Image 4" descr="icons/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500" y="2495580"/>
            <a:ext cx="458663" cy="45866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156448" y="315468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156448" y="36576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→ local Ollama fallback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9802368" y="3159252"/>
            <a:ext cx="3063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9436608" y="2249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9944100" y="2194560"/>
            <a:ext cx="1755648" cy="2331720"/>
          </a:xfrm>
          <a:prstGeom prst="roundRect">
            <a:avLst>
              <a:gd name="adj" fmla="val 4688"/>
            </a:avLst>
          </a:prstGeom>
          <a:solidFill>
            <a:srgbClr val="1C7293"/>
          </a:solidFill>
          <a:ln/>
        </p:spPr>
      </p:sp>
      <p:sp>
        <p:nvSpPr>
          <p:cNvPr id="41" name="Shape 34"/>
          <p:cNvSpPr/>
          <p:nvPr/>
        </p:nvSpPr>
        <p:spPr>
          <a:xfrm>
            <a:off x="10520172" y="2423160"/>
            <a:ext cx="603504" cy="603504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42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2592" y="2495580"/>
            <a:ext cx="458663" cy="458663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035540" y="315468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10035540" y="36576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memory update, TTS if voice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11315700" y="2249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548640" y="48006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Pipeline-and-Filter architecture at the query level; Facade pattern (RAGPipeline) at the component level. A shared @st.cache_resource instance serves all sessions, isolated by session_id.</a:t>
            </a:r>
            <a:endParaRPr lang="en-US" sz="1250" dirty="0"/>
          </a:p>
        </p:txBody>
      </p:sp>
      <p:sp>
        <p:nvSpPr>
          <p:cNvPr id="47" name="Shape 39"/>
          <p:cNvSpPr/>
          <p:nvPr/>
        </p:nvSpPr>
        <p:spPr>
          <a:xfrm>
            <a:off x="548640" y="56235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731520" y="56235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path: </a:t>
            </a:r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→ Faster-Whisper STT → same text pipeline → Edge-TTS reply</a:t>
            </a:r>
            <a:endParaRPr lang="en-US" sz="1150" dirty="0"/>
          </a:p>
        </p:txBody>
      </p:sp>
      <p:sp>
        <p:nvSpPr>
          <p:cNvPr id="49" name="Shape 41"/>
          <p:cNvSpPr/>
          <p:nvPr/>
        </p:nvSpPr>
        <p:spPr>
          <a:xfrm>
            <a:off x="6172200" y="56235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6355080" y="56235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path: </a:t>
            </a:r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attached → always routed to Qwen2.5-VL, any mode</a:t>
            </a:r>
            <a:endParaRPr lang="en-US" sz="1150" dirty="0"/>
          </a:p>
        </p:txBody>
      </p:sp>
      <p:sp>
        <p:nvSpPr>
          <p:cNvPr id="51" name="Text 4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5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7" y="184891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28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Extraction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203911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/ pdfplumber, python-docx, python-pptx, openpyxl, pandas each parse their native format with fallback methods for malformed files.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5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357" y="184891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728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Tagging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132320" y="203911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unit keeps its page number (PDF), slide number (PPTX), or sheet name (XLSX) so citations stay precise.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191256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5F8FA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337413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7" y="3439973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3192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17320" y="3630168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LangChain's RecursiveCharacterTextSplitter divides text into 1,000-character chunks with a 200-character overlap to preserve context across boundaries.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63640" y="3191256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5F8FA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337413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357" y="3439973"/>
            <a:ext cx="416966" cy="4169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33192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Metadata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132320" y="3630168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is stamped with source_name, session_id, and chunk_id, enabling per-session isolation inside the shared vector store.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782312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5F8FA"/>
          </a:solidFill>
          <a:ln/>
        </p:spPr>
      </p:sp>
      <p:sp>
        <p:nvSpPr>
          <p:cNvPr id="26" name="Shape 20"/>
          <p:cNvSpPr/>
          <p:nvPr/>
        </p:nvSpPr>
        <p:spPr>
          <a:xfrm>
            <a:off x="731520" y="496519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7" y="5031029"/>
            <a:ext cx="416966" cy="41696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49103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&amp; Indexing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417320" y="5221224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are embedded (sentence-transformers / nomic-embed-text) and inserted into ChromaDB for similarity search.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63640" y="4782312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5F8FA"/>
          </a:solidFill>
          <a:ln/>
        </p:spPr>
      </p:sp>
      <p:sp>
        <p:nvSpPr>
          <p:cNvPr id="31" name="Shape 24"/>
          <p:cNvSpPr/>
          <p:nvPr/>
        </p:nvSpPr>
        <p:spPr>
          <a:xfrm>
            <a:off x="6446520" y="496519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2357" y="5031029"/>
            <a:ext cx="416966" cy="41696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32320" y="49103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Sanitization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7132320" y="5221224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is coerced into Chroma-safe types (str/int/float/bool); lists are flattened, None values dropped, before insertion.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MODEL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Subsystems, Six Model Choices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one monolithic model, Alies AI composes small, specialized components — each chosen after trying and rejecting alternatives. The next slides detail each one.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2233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350008"/>
            <a:ext cx="566928" cy="566928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8" name="Image 0" descr="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39" y="2418039"/>
            <a:ext cx="430865" cy="4308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306324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Models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3410712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family (chat, coder, vision) via Ollama + optional OpenAI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79976" y="21488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4581144" y="2350008"/>
            <a:ext cx="566928" cy="566928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13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75" y="2418039"/>
            <a:ext cx="430865" cy="4308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1144" y="306324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Vector Store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81144" y="3410712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→ FAISS → ChromaDB (final)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11312" y="21488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2233F"/>
          </a:solidFill>
          <a:ln/>
        </p:spPr>
      </p:sp>
      <p:sp>
        <p:nvSpPr>
          <p:cNvPr id="17" name="Shape 13"/>
          <p:cNvSpPr/>
          <p:nvPr/>
        </p:nvSpPr>
        <p:spPr>
          <a:xfrm>
            <a:off x="8412480" y="2350008"/>
            <a:ext cx="566928" cy="566928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18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511" y="2418039"/>
            <a:ext cx="430865" cy="4308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06324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12480" y="3410712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Two-stage: cosine retrieval + cross-encoder rerank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315968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</p:spPr>
      </p:sp>
      <p:sp>
        <p:nvSpPr>
          <p:cNvPr id="22" name="Shape 17"/>
          <p:cNvSpPr/>
          <p:nvPr/>
        </p:nvSpPr>
        <p:spPr>
          <a:xfrm>
            <a:off x="749808" y="4517136"/>
            <a:ext cx="566928" cy="566928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23" name="Image 3" descr="icons/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" y="4585167"/>
            <a:ext cx="430865" cy="43086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9808" y="523036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49808" y="557784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 for image understanding &amp; OCR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79976" y="4315968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2233F"/>
          </a:solidFill>
          <a:ln/>
        </p:spPr>
      </p:sp>
      <p:sp>
        <p:nvSpPr>
          <p:cNvPr id="27" name="Shape 21"/>
          <p:cNvSpPr/>
          <p:nvPr/>
        </p:nvSpPr>
        <p:spPr>
          <a:xfrm>
            <a:off x="4581144" y="4517136"/>
            <a:ext cx="566928" cy="566928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28" name="Image 4" descr="icons/m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175" y="4585167"/>
            <a:ext cx="430865" cy="43086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81144" y="523036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581144" y="557784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(STT) + Edge-TTS (TTS)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211312" y="4315968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</p:spPr>
      </p:sp>
      <p:sp>
        <p:nvSpPr>
          <p:cNvPr id="32" name="Shape 25"/>
          <p:cNvSpPr/>
          <p:nvPr/>
        </p:nvSpPr>
        <p:spPr>
          <a:xfrm>
            <a:off x="8412480" y="4517136"/>
            <a:ext cx="566928" cy="566928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33" name="Image 5" descr="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0511" y="4585167"/>
            <a:ext cx="430865" cy="43086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12480" y="523036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Scraper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412480" y="557784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search + BeautifulSoup4 scraping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06.1 · MODEL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LLM Router selects the right backend per question instead of relying on one fixed model.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5F8F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305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51" y="2198583"/>
            <a:ext cx="430865" cy="4308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03911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qwen2.5:1.5b (Ollama)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92040" y="225856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22585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66560" y="2020824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local backend — fast, private, no API cost. Chosen for CPU-friendly inference at graduation-project scale.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5F8FA"/>
          </a:solidFill>
          <a:ln/>
        </p:spPr>
      </p:sp>
      <p:sp>
        <p:nvSpPr>
          <p:cNvPr id="14" name="Shape 11"/>
          <p:cNvSpPr/>
          <p:nvPr/>
        </p:nvSpPr>
        <p:spPr>
          <a:xfrm>
            <a:off x="731520" y="31821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icons/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51" y="3250143"/>
            <a:ext cx="430865" cy="4308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309067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qwen2.5-coder:1.5b (Ollama)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92040" y="331012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8" name="Text 14"/>
          <p:cNvSpPr/>
          <p:nvPr/>
        </p:nvSpPr>
        <p:spPr>
          <a:xfrm>
            <a:off x="4892040" y="331012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questions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766560" y="3072384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IntentRouter detects programming keywords/regex (stage 1) or a one-word LLM classification (stage 2) and routes here.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5F8FA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" y="42336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icons/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51" y="4301703"/>
            <a:ext cx="430865" cy="4308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414223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qwen2.5vl:3b (Ollama)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892040" y="436168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5" name="Text 20"/>
          <p:cNvSpPr/>
          <p:nvPr/>
        </p:nvSpPr>
        <p:spPr>
          <a:xfrm>
            <a:off x="4892040" y="436168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OCR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766560" y="4123944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used the moment an image is attached, regardless of chat mode.</a:t>
            </a:r>
            <a:endParaRPr lang="en-US" sz="1080" dirty="0"/>
          </a:p>
        </p:txBody>
      </p:sp>
      <p:sp>
        <p:nvSpPr>
          <p:cNvPr id="27" name="Shape 22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5F8FA"/>
          </a:solidFill>
          <a:ln/>
        </p:spPr>
      </p:sp>
      <p:sp>
        <p:nvSpPr>
          <p:cNvPr id="28" name="Shape 23"/>
          <p:cNvSpPr/>
          <p:nvPr/>
        </p:nvSpPr>
        <p:spPr>
          <a:xfrm>
            <a:off x="731520" y="5285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3" descr="icons/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" y="5353263"/>
            <a:ext cx="430865" cy="43086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08760" y="519379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 (primary/secondary)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892040" y="541324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2" name="Text 26"/>
          <p:cNvSpPr/>
          <p:nvPr/>
        </p:nvSpPr>
        <p:spPr>
          <a:xfrm>
            <a:off x="4892040" y="541324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tier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766560" y="5175504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 tries OpenAI first for higher quality, then gracefully falls back to local Ollama on quota/auth errors.</a:t>
            </a:r>
            <a:endParaRPr lang="en-US" sz="1080" dirty="0"/>
          </a:p>
        </p:txBody>
      </p:sp>
      <p:sp>
        <p:nvSpPr>
          <p:cNvPr id="34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 · MODEL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&amp; Vector Store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memory layers, and a vector-store journey across three engines before settling on the final choice.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4251960"/>
          </a:xfrm>
          <a:prstGeom prst="roundRect">
            <a:avLst>
              <a:gd name="adj" fmla="val 1935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Memory Layers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66090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5786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(Conversation Memory)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417320" y="289864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 of the last 6 turns per session, in-process; feeds the LLM prompt and the query rewriter.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" y="37764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83133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3749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(SQLite memory.sqlite)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417320" y="40690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user facts (name, preferences, goals) scored by MemoryImportanceScorer and retrieved by similarity + importance + recency.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2960" y="49469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500176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9194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by design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417320" y="52395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SQLite or scoring exception is caught and swallowed — the conversation always continues even if memory fails.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080760" y="1965960"/>
            <a:ext cx="5532120" cy="4251960"/>
          </a:xfrm>
          <a:prstGeom prst="roundRect">
            <a:avLst>
              <a:gd name="adj" fmla="val 1935"/>
            </a:avLst>
          </a:prstGeom>
          <a:solidFill>
            <a:srgbClr val="12233F"/>
          </a:solidFill>
          <a:ln/>
        </p:spPr>
      </p:sp>
      <p:sp>
        <p:nvSpPr>
          <p:cNvPr id="21" name="Text 16"/>
          <p:cNvSpPr/>
          <p:nvPr/>
        </p:nvSpPr>
        <p:spPr>
          <a:xfrm>
            <a:off x="635508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Journey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265176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8"/>
          <p:cNvSpPr/>
          <p:nvPr/>
        </p:nvSpPr>
        <p:spPr>
          <a:xfrm>
            <a:off x="6355080" y="26517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90372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Cloud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903720" y="290779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Qdrant Cloud (free tier). Worked, but added an external network dependency, cluster setup, and API-key management for a local-first project.</a:t>
            </a:r>
            <a:endParaRPr lang="en-US" sz="1030" dirty="0"/>
          </a:p>
        </p:txBody>
      </p:sp>
      <p:sp>
        <p:nvSpPr>
          <p:cNvPr id="26" name="Text 21"/>
          <p:cNvSpPr/>
          <p:nvPr/>
        </p:nvSpPr>
        <p:spPr>
          <a:xfrm>
            <a:off x="6492240" y="30358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355080" y="385876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3"/>
          <p:cNvSpPr/>
          <p:nvPr/>
        </p:nvSpPr>
        <p:spPr>
          <a:xfrm>
            <a:off x="6355080" y="3858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903720" y="3813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903720" y="41148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FAISS for a fully local, in-process index. Fast, but required hand-rolled metadata/session filtering and persistence bookkeeping.</a:t>
            </a:r>
            <a:endParaRPr lang="en-US" sz="1030" dirty="0"/>
          </a:p>
        </p:txBody>
      </p:sp>
      <p:sp>
        <p:nvSpPr>
          <p:cNvPr id="31" name="Text 26"/>
          <p:cNvSpPr/>
          <p:nvPr/>
        </p:nvSpPr>
        <p:spPr>
          <a:xfrm>
            <a:off x="6492240" y="42428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355080" y="5065776"/>
            <a:ext cx="420624" cy="420624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33" name="Text 28"/>
          <p:cNvSpPr/>
          <p:nvPr/>
        </p:nvSpPr>
        <p:spPr>
          <a:xfrm>
            <a:off x="6355080" y="50657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903720" y="50200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 (final)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903720" y="532180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an in-memory Chroma client: zero server, no connection errors, native metadata filtering by session_id — the best fit for a single-laptop deployment.</a:t>
            </a:r>
            <a:endParaRPr lang="en-US" sz="1030" dirty="0"/>
          </a:p>
        </p:txBody>
      </p:sp>
      <p:sp>
        <p:nvSpPr>
          <p:cNvPr id="36" name="Text 3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06.3 · MODEL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— Retrieval-Augmented Generation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two-stage retrieval design trades a little extra latency for a large jump in precision.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1284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7" y="2278685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2880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Query Rewrite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3474720"/>
            <a:ext cx="22860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(“and what about that?”) are rewritten into standalone questions using the last 6 turns, so retrieval isn't blind to context.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163824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19272" y="201168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EAF1F4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02152" y="221284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989" y="2278685"/>
            <a:ext cx="416966" cy="4169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83864" y="2880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Vector Search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83864" y="3474720"/>
            <a:ext cx="22860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embedded and ChromaDB returns an over-fetched shortlist — max(k×4, 15) candidates — via cosine similarity, filtered by session_id.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934456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089904" y="201168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72784" y="221284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2278685"/>
            <a:ext cx="416966" cy="4169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54496" y="2880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Cross-Encoder Rerank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54496" y="3474720"/>
            <a:ext cx="22860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sentence-transformers cross-encoder jointly scores (question, chunk) pairs — far sharper than cosine similarity alone — and keeps only the top-k.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705088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860536" y="201168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EAF1F4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043416" y="221284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253" y="2278685"/>
            <a:ext cx="416966" cy="41696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025128" y="2880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Cited Generation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025128" y="3474720"/>
            <a:ext cx="22860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context ([1], [2]…) is assembled with page/slide/sheet labels; the LLM is prompted to cite chunk numbers inline.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06.4 · MODEL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12233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110435"/>
            <a:ext cx="625450" cy="6254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 (3B)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74520" y="24505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locally via Ollama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local vision? 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per-image API cost, no data leaving the machine, and OCR-quality text extraction from screenshots, scans, and diagrams.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43484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routing: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Router sends any message with an attached image straight to the vision backend — independent of the selected pipeline mode.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9893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89320" y="2286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83680" y="221284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attaches an image (PNG / JPEG / WebP)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89320" y="3246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59893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83680" y="31729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is base64-encoded and sent to Ollama alongside the question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8932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59893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83680" y="413308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QwenVisionClient calls qwen2.5vl:3b for description, OCR, or Q&amp;A about the image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89320" y="5166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598932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583680" y="509320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merged into the normal chat + citation flow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06.5 · MODEL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2088490"/>
            <a:ext cx="486461" cy="4864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214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Speech-to-Text: Faster-Whisper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27889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click → record → saved as temp_audio/input.wav → WhisperModel.transcribe(beam_size=5) → text + detected language + confidence.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40233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Faster-Whisper? 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CTranslate2 re-implementation of OpenAI Whisper — near-identical accuracy at a fraction of the latency, and it runs fully offline / CPU-friendly.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51206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routing: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language_probability &lt; 0.5 → default to Arabic; detected “en” → English voice; otherwise → Arabic voice.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2233F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90" y="2088490"/>
            <a:ext cx="486461" cy="4864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21214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Text-to-Speech: Edge-TTS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583680" y="27889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edge_tts.Communicate(text, voice).save(output.mp3) → played back to the user → temp files cleaned up automatically.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83680" y="384048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Voices: 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ar-EG-ShakirNeural (Arabic) and en-US-GuyNeural (English) — high-quality neural voices with no local TTS model to host.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83680" y="489204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 access to reach the Microsoft Edge online TTS service — the one cloud dependency in an otherwise offline-capable voice path.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06.6 · MODEL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Scraper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848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2161642"/>
            <a:ext cx="486461" cy="4864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94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Mode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top-5 results fetched per query (duckduckgo-search) — no API key, no rate-limit billing.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 results fully scraped for deep content; the remaining 3 kept as short snippets.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is labeled “(web search)” in the citation list, kept distinct from uploaded documents.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084832"/>
            <a:ext cx="640080" cy="64008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12" name="Image 1" descr="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90" y="2161642"/>
            <a:ext cx="486461" cy="4864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194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Mode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83680" y="28803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a single URL; BeautifulSoup4 strips navigation, scripts, and ads to leave clean prose.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page is chunked and stored in ChromaDB exactly like an uploaded document.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“chat with this article/page” without ever leaving the assistant.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FINE-TUNING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Process — QLoRA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5-step pipeline adapts Qwen2.5-1.5B-Instruct to a user's own documents, without touching the RAG path.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12233F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2350008"/>
            <a:ext cx="566928" cy="566928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8" name="Image 0" descr="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911" y="2418039"/>
            <a:ext cx="430865" cy="4308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0632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Prepare Dataset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76656" y="3566160"/>
            <a:ext cx="18653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documents are converted into synthetic instruction/response pairs (train.jsonl) using an Ollama model as generator.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2788920" y="214884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3566160" y="2350008"/>
            <a:ext cx="566928" cy="566928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13" name="Image 1" descr="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191" y="2418039"/>
            <a:ext cx="430865" cy="4308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98648" y="30632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QLoRA Training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916936" y="3566160"/>
            <a:ext cx="18653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+ bitsandbytes 4-bit quantization; LoRA r=16, α=32, dropout 0.05 applied to all linear layers (q/k/v/o/gate/up/down-proj), not just attention.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5029200" y="214884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12233F"/>
          </a:solidFill>
          <a:ln/>
        </p:spPr>
      </p:sp>
      <p:sp>
        <p:nvSpPr>
          <p:cNvPr id="17" name="Shape 13"/>
          <p:cNvSpPr/>
          <p:nvPr/>
        </p:nvSpPr>
        <p:spPr>
          <a:xfrm>
            <a:off x="5806440" y="2350008"/>
            <a:ext cx="566928" cy="566928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18" name="Image 2" descr="icons/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471" y="2418039"/>
            <a:ext cx="430865" cy="4308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38928" y="30632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Merge Adapter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157216" y="3566160"/>
            <a:ext cx="18653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LoRA adapter is merged back into the base model's full-precision weights.</a:t>
            </a:r>
            <a:endParaRPr lang="en-US" sz="930" dirty="0"/>
          </a:p>
        </p:txBody>
      </p:sp>
      <p:sp>
        <p:nvSpPr>
          <p:cNvPr id="21" name="Shape 16"/>
          <p:cNvSpPr/>
          <p:nvPr/>
        </p:nvSpPr>
        <p:spPr>
          <a:xfrm>
            <a:off x="7269480" y="214884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1C7293"/>
          </a:solidFill>
          <a:ln/>
        </p:spPr>
      </p:sp>
      <p:sp>
        <p:nvSpPr>
          <p:cNvPr id="22" name="Shape 17"/>
          <p:cNvSpPr/>
          <p:nvPr/>
        </p:nvSpPr>
        <p:spPr>
          <a:xfrm>
            <a:off x="8046720" y="2350008"/>
            <a:ext cx="566928" cy="566928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23" name="Image 3" descr="icons/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751" y="2418039"/>
            <a:ext cx="430865" cy="43086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79208" y="30632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Convert to GGUF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397496" y="3566160"/>
            <a:ext cx="18653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weights are converted to GGUF format for efficient local serving.</a:t>
            </a:r>
            <a:endParaRPr lang="en-US" sz="930" dirty="0"/>
          </a:p>
        </p:txBody>
      </p:sp>
      <p:sp>
        <p:nvSpPr>
          <p:cNvPr id="26" name="Shape 20"/>
          <p:cNvSpPr/>
          <p:nvPr/>
        </p:nvSpPr>
        <p:spPr>
          <a:xfrm>
            <a:off x="9509760" y="2148840"/>
            <a:ext cx="2121408" cy="3566160"/>
          </a:xfrm>
          <a:prstGeom prst="roundRect">
            <a:avLst>
              <a:gd name="adj" fmla="val 3879"/>
            </a:avLst>
          </a:prstGeom>
          <a:solidFill>
            <a:srgbClr val="12233F"/>
          </a:solidFill>
          <a:ln/>
        </p:spPr>
      </p:sp>
      <p:sp>
        <p:nvSpPr>
          <p:cNvPr id="27" name="Shape 21"/>
          <p:cNvSpPr/>
          <p:nvPr/>
        </p:nvSpPr>
        <p:spPr>
          <a:xfrm>
            <a:off x="10287000" y="2350008"/>
            <a:ext cx="566928" cy="566928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28" name="Image 4" descr="icons/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5031" y="2418039"/>
            <a:ext cx="430865" cy="43086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19488" y="30632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Register with Ollama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9637776" y="3566160"/>
            <a:ext cx="18653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GGUF model is registered as a custom Ollama model, ready to be selected as OLLAMA_MODEL.</a:t>
            </a:r>
            <a:endParaRPr lang="en-US" sz="930" dirty="0"/>
          </a:p>
        </p:txBody>
      </p:sp>
      <p:sp>
        <p:nvSpPr>
          <p:cNvPr id="31" name="Text 24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QLoRA (Dettmers et al., 2023):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NormalFloat quantization + LoRA adapters recover full 16-bit finetuning quality while fitting training on a single consumer GPU — exactly the budget this project runs on.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evaluation harness (src/eval/) scores the RAG pipeline on retrieval and generation quality — no single metric tells the whole story.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317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271" y="2399751"/>
            <a:ext cx="430865" cy="4308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3591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463040" y="272491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11" name="Text 8"/>
          <p:cNvSpPr/>
          <p:nvPr/>
        </p:nvSpPr>
        <p:spPr>
          <a:xfrm>
            <a:off x="1463040" y="27249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7240" y="32461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top-k retrieved chunks whose source matches the expected_sources in the labeled test set.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25112" y="210312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53712" y="23317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743" y="2399751"/>
            <a:ext cx="430865" cy="4308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9512" y="23591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239512" y="272491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18" name="Text 14"/>
          <p:cNvSpPr/>
          <p:nvPr/>
        </p:nvSpPr>
        <p:spPr>
          <a:xfrm>
            <a:off x="5239512" y="27249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553712" y="32461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claim in the generated answer trace back to the retrieved context? Score 0–1, guards against hallucination.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01584" y="210312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30184" y="23317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215" y="2399751"/>
            <a:ext cx="430865" cy="4308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15984" y="23591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Relevance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9015984" y="272491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25" name="Text 20"/>
          <p:cNvSpPr/>
          <p:nvPr/>
        </p:nvSpPr>
        <p:spPr>
          <a:xfrm>
            <a:off x="9015984" y="27249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8330184" y="32461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actually address the question asked, independent of grounding? Score 0–1.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2233F"/>
          </a:solidFill>
          <a:ln/>
        </p:spPr>
      </p:sp>
      <p:sp>
        <p:nvSpPr>
          <p:cNvPr id="28" name="Text 23"/>
          <p:cNvSpPr/>
          <p:nvPr/>
        </p:nvSpPr>
        <p:spPr>
          <a:xfrm>
            <a:off x="822960" y="521208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src/eval/run_eval.py  —  reads eval_dataset.json, prints results to console, writes a JSON report. Voice Assistant is additionally covered by manual test scenarios (STT accuracy, TTS voice switching, cleanup of temp files).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SHIPPING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Prerequisites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serve running locally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pulled: qwen2.5:1.5b, qwen2.5-coder:1.5b, qwen2.5-vl, nomic-embed-text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installed (required by faster-whisper)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 for edge-tts (Microsoft Edge TTS service)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846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Run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2120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1223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3035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 &amp;&amp; cd rag-assistant-ollama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venv &amp;&amp; source venv/bin/activate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6364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Options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0" descr="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2357" y="2168957"/>
            <a:ext cx="416966" cy="41696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178040" y="20391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178040" y="23500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GitHub integration, free tier, secrets set in the dashboard.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6263640" y="29260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/>
        </p:spPr>
      </p:sp>
      <p:sp>
        <p:nvSpPr>
          <p:cNvPr id="18" name="Shape 15"/>
          <p:cNvSpPr/>
          <p:nvPr/>
        </p:nvSpPr>
        <p:spPr>
          <a:xfrm>
            <a:off x="6446520" y="3063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1" descr="icons/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357" y="3129077"/>
            <a:ext cx="416966" cy="41696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78040" y="29992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/ Render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178040" y="33101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 deployment with automatic HTTPS.</a:t>
            </a:r>
            <a:endParaRPr lang="en-US" sz="1030" dirty="0"/>
          </a:p>
        </p:txBody>
      </p:sp>
      <p:sp>
        <p:nvSpPr>
          <p:cNvPr id="22" name="Shape 18"/>
          <p:cNvSpPr/>
          <p:nvPr/>
        </p:nvSpPr>
        <p:spPr>
          <a:xfrm>
            <a:off x="6263640" y="38862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6520" y="4023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57" y="4089197"/>
            <a:ext cx="416966" cy="41696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78040" y="39593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/ GCP Cloud Run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7178040" y="42702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Container-based, production scale.</a:t>
            </a:r>
            <a:endParaRPr lang="en-US" sz="1030" dirty="0"/>
          </a:p>
        </p:txBody>
      </p:sp>
      <p:sp>
        <p:nvSpPr>
          <p:cNvPr id="27" name="Shape 22"/>
          <p:cNvSpPr/>
          <p:nvPr/>
        </p:nvSpPr>
        <p:spPr>
          <a:xfrm>
            <a:off x="6263640" y="48920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C7293"/>
          </a:solidFill>
          <a:ln/>
        </p:spPr>
      </p:sp>
      <p:sp>
        <p:nvSpPr>
          <p:cNvPr id="28" name="Text 23"/>
          <p:cNvSpPr/>
          <p:nvPr/>
        </p:nvSpPr>
        <p:spPr>
          <a:xfrm>
            <a:off x="6492240" y="50749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must run as a sidecar or dedicated instance alongside the Streamlit server in any cloud deployment — it is not a managed service.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Inspiration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0" cy="4114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papers frame where Alies AI's memory and knowledge systems could go next.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F5F8FA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214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7" y="2187245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488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today — Han (2026), “Memory Depth, Not Memory Access”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24688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distinguishes memory access (retrieval can fetch a fact) from memory depth (a durable, goal-conditioned tendency that survives context unload). Our long-term memory module borrows only the high-level framing — selectively deciding which facts are worth carrying forward — implemented as lightweight SQLite scoring, not the paper's EVAF gated-LoRA mechanism.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therefore study selective parametric consolidation under a controlled loop-drift protocol… EVAF is strongest on goal persistence and post-unload recovery (0.812–0.904).”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2233F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40416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" y="4101998"/>
            <a:ext cx="382219" cy="38221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406908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today — Dettmers et al. (2023), QLoRA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77240" y="470916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finetune/ pipeline directly applies QLoRA's recipe: 4-bit NF4 quantization + LoRA adapters on all linear layers, letting Qwen2.5-1.5B be adapted to a user's documents on a single consumer GPU without full-precision retraining.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6080760" y="3840480"/>
            <a:ext cx="5532120" cy="2286000"/>
          </a:xfrm>
          <a:prstGeom prst="roundRect">
            <a:avLst>
              <a:gd name="adj" fmla="val 3600"/>
            </a:avLst>
          </a:prstGeom>
          <a:solidFill>
            <a:srgbClr val="1C7293"/>
          </a:solidFill>
          <a:ln/>
        </p:spPr>
      </p:sp>
      <p:sp>
        <p:nvSpPr>
          <p:cNvPr id="18" name="Shape 14"/>
          <p:cNvSpPr/>
          <p:nvPr/>
        </p:nvSpPr>
        <p:spPr>
          <a:xfrm>
            <a:off x="6309360" y="4041648"/>
            <a:ext cx="502920" cy="50292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19" name="Image 2" descr="icons/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710" y="4101998"/>
            <a:ext cx="382219" cy="38221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0" y="406908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— Yue et al. (2026), Decoupled MoE (DMoE)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470916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direction: replace single-shared-adapter fine-tuning with a bank of small per-document LoRA experts, routed at inference by a lightweight BM25 router only when the base model's token uncertainty is high — attached solely to the final-layer FFN to preserve KV-cache reuse and keep updates modular per knowledge unit.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Built, What It Does Well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6304F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1958645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 answers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63040" y="22402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retrieval + reranking + page-aware citations measurably reduce ungrounded claims (Faithfulness metric).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6304F"/>
          </a:solidFill>
          <a:ln/>
        </p:spPr>
      </p:sp>
      <p:sp>
        <p:nvSpPr>
          <p:cNvPr id="10" name="Shape 7"/>
          <p:cNvSpPr/>
          <p:nvPr/>
        </p:nvSpPr>
        <p:spPr>
          <a:xfrm>
            <a:off x="6373368" y="18928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205" y="1958645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745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local inference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86600" y="22402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small models via Ollama keep the whole stack usable on a single developer laptop, no GPU required.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6304F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76732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3833165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7490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multi-modality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63040" y="411480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voice (bilingual AR/EN), and image/OCR all funnel through one consistent pipeline and memory system.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72200" y="35661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6304F"/>
          </a:solidFill>
          <a:ln/>
        </p:spPr>
      </p:sp>
      <p:sp>
        <p:nvSpPr>
          <p:cNvPr id="20" name="Shape 15"/>
          <p:cNvSpPr/>
          <p:nvPr/>
        </p:nvSpPr>
        <p:spPr>
          <a:xfrm>
            <a:off x="6373368" y="376732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205" y="3833165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7490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architecture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86600" y="411480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vector-store iterations (Qdrant → FAISS → Chroma) and fail-safe memory show the design converged on simplicity and reliability.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Alies AI shows that a carefully composed set of small, local, well-evaluated components can rival heavier cloud-only assistants — while leaving a clear, cited research path (memory depth, DMoE) for future depth.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Alies AI — NHA RAG Assistant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4173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38021"/>
            <a:ext cx="764438" cy="764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6596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Alies AI in action: document RAG, web search, image OCR, and a full bilingual voice conversation.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342900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8" name="Shape 5"/>
          <p:cNvSpPr/>
          <p:nvPr/>
        </p:nvSpPr>
        <p:spPr>
          <a:xfrm>
            <a:off x="1005840" y="3657600"/>
            <a:ext cx="914400" cy="9144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9" name="Image 1" descr="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767328"/>
            <a:ext cx="694944" cy="6949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94560" y="361188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Project depi.mp4 — Google Drive</a:t>
            </a:r>
            <a:endParaRPr lang="en-US" sz="1500" dirty="0"/>
          </a:p>
        </p:txBody>
      </p:sp>
      <p:sp>
        <p:nvSpPr>
          <p:cNvPr id="11" name="Text 7">
            <a:hlinkClick r:id="rId3" tooltip=""/>
          </p:cNvPr>
          <p:cNvSpPr/>
          <p:nvPr/>
        </p:nvSpPr>
        <p:spPr>
          <a:xfrm>
            <a:off x="2194560" y="4023360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https://drive.google.com/drive/folders/11jK9EGT7YohrJUs87O3DuohPD6u424fJ?usp=sharing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31520" y="5212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Ibrahim  ·  Youssef Hesham  ·  Lina Essam  ·  Mohamed Hassan       Instructor: Aya Hisham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2026-07-09T23:58:56Z</dcterms:created>
  <dcterms:modified xsi:type="dcterms:W3CDTF">2026-07-09T23:58:56Z</dcterms:modified>
</cp:coreProperties>
</file>